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811750" cy="30099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106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red-encoder-frame">
            <a:extLst>
              <a:ext uri="{FF2B5EF4-FFF2-40B4-BE49-F238E27FC236}">
                <a16:creationId xmlns:a16="http://schemas.microsoft.com/office/drawing/2014/main" id="{57430B81-EEC4-45BE-BF84-FB7480F8C932}"/>
              </a:ext>
            </a:extLst>
          </p:cNvPr>
          <p:cNvSpPr>
            <a:spLocks noGrp="1"/>
          </p:cNvSpPr>
          <p:nvPr/>
        </p:nvSpPr>
        <p:spPr>
          <a:xfrm>
            <a:off x="1685925" y="85725"/>
            <a:ext cx="7620000" cy="21050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9"/>
            </a:solidFill>
            <a:prstDash val="solid"/>
          </a:ln>
        </p:spPr>
      </p:sp>
      <p:sp>
        <p:nvSpPr>
          <p:cNvPr id="2" name="shared-mamba-fusion-frame">
            <a:extLst>
              <a:ext uri="{FF2B5EF4-FFF2-40B4-BE49-F238E27FC236}">
                <a16:creationId xmlns:a16="http://schemas.microsoft.com/office/drawing/2014/main" id="{745004AF-EB3D-4D22-A123-66F9D9293AB7}"/>
              </a:ext>
            </a:extLst>
          </p:cNvPr>
          <p:cNvSpPr>
            <a:spLocks noGrp="1"/>
          </p:cNvSpPr>
          <p:nvPr/>
        </p:nvSpPr>
        <p:spPr>
          <a:xfrm>
            <a:off x="9834563" y="-95251"/>
            <a:ext cx="4171950" cy="24669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9"/>
            </a:solidFill>
            <a:prstDash val="solid"/>
          </a:ln>
        </p:spPr>
      </p:sp>
      <p:sp>
        <p:nvSpPr>
          <p:cNvPr id="3" name="ir-input-arrow-line">
            <a:extLst>
              <a:ext uri="{FF2B5EF4-FFF2-40B4-BE49-F238E27FC236}">
                <a16:creationId xmlns:a16="http://schemas.microsoft.com/office/drawing/2014/main" id="{F18506AD-77CB-41AF-B32F-939EFC24ED0F}"/>
              </a:ext>
            </a:extLst>
          </p:cNvPr>
          <p:cNvSpPr>
            <a:spLocks noGrp="1"/>
          </p:cNvSpPr>
          <p:nvPr/>
        </p:nvSpPr>
        <p:spPr>
          <a:xfrm>
            <a:off x="1162050" y="561975"/>
            <a:ext cx="523875" cy="0"/>
          </a:xfrm>
          <a:prstGeom prst="line">
            <a:avLst/>
          </a:prstGeom>
          <a:noFill/>
          <a:ln w="9525">
            <a:solidFill>
              <a:srgbClr val="565C63"/>
            </a:solidFill>
            <a:prstDash val="solid"/>
          </a:ln>
        </p:spPr>
      </p:sp>
      <p:sp>
        <p:nvSpPr>
          <p:cNvPr id="4" name="ir-input-arrow-head">
            <a:extLst>
              <a:ext uri="{FF2B5EF4-FFF2-40B4-BE49-F238E27FC236}">
                <a16:creationId xmlns:a16="http://schemas.microsoft.com/office/drawing/2014/main" id="{EFAE6EB6-02AA-4129-9F4B-BAD043050139}"/>
              </a:ext>
            </a:extLst>
          </p:cNvPr>
          <p:cNvSpPr>
            <a:spLocks noGrp="1"/>
          </p:cNvSpPr>
          <p:nvPr/>
        </p:nvSpPr>
        <p:spPr>
          <a:xfrm rot="5400000">
            <a:off x="1609725" y="523875"/>
            <a:ext cx="76200" cy="76200"/>
          </a:xfrm>
          <a:prstGeom prst="triangle">
            <a:avLst/>
          </a:prstGeom>
          <a:solidFill>
            <a:srgbClr val="565C63"/>
          </a:solidFill>
          <a:ln w="0">
            <a:solidFill>
              <a:srgbClr val="565C63"/>
            </a:solidFill>
            <a:prstDash val="solid"/>
          </a:ln>
        </p:spPr>
      </p:sp>
      <p:sp>
        <p:nvSpPr>
          <p:cNvPr id="5" name="vis-input-arrow-line">
            <a:extLst>
              <a:ext uri="{FF2B5EF4-FFF2-40B4-BE49-F238E27FC236}">
                <a16:creationId xmlns:a16="http://schemas.microsoft.com/office/drawing/2014/main" id="{99A28BA5-BD99-4315-A9D2-872187EF8F16}"/>
              </a:ext>
            </a:extLst>
          </p:cNvPr>
          <p:cNvSpPr>
            <a:spLocks noGrp="1"/>
          </p:cNvSpPr>
          <p:nvPr/>
        </p:nvSpPr>
        <p:spPr>
          <a:xfrm>
            <a:off x="1209675" y="1809750"/>
            <a:ext cx="476250" cy="0"/>
          </a:xfrm>
          <a:prstGeom prst="line">
            <a:avLst/>
          </a:prstGeom>
          <a:noFill/>
          <a:ln w="9525">
            <a:solidFill>
              <a:srgbClr val="565C63"/>
            </a:solidFill>
            <a:prstDash val="solid"/>
          </a:ln>
        </p:spPr>
      </p:sp>
      <p:sp>
        <p:nvSpPr>
          <p:cNvPr id="6" name="vis-input-arrow-head">
            <a:extLst>
              <a:ext uri="{FF2B5EF4-FFF2-40B4-BE49-F238E27FC236}">
                <a16:creationId xmlns:a16="http://schemas.microsoft.com/office/drawing/2014/main" id="{BC294FBF-AA5B-4563-A125-94BB704769CD}"/>
              </a:ext>
            </a:extLst>
          </p:cNvPr>
          <p:cNvSpPr>
            <a:spLocks noGrp="1"/>
          </p:cNvSpPr>
          <p:nvPr/>
        </p:nvSpPr>
        <p:spPr>
          <a:xfrm rot="5400000">
            <a:off x="1609725" y="1771650"/>
            <a:ext cx="76200" cy="76200"/>
          </a:xfrm>
          <a:prstGeom prst="triangle">
            <a:avLst/>
          </a:prstGeom>
          <a:solidFill>
            <a:srgbClr val="565C63"/>
          </a:solidFill>
          <a:ln w="0">
            <a:solidFill>
              <a:srgbClr val="565C63"/>
            </a:solidFill>
            <a:prstDash val="solid"/>
          </a:ln>
        </p:spPr>
      </p:sp>
      <p:sp>
        <p:nvSpPr>
          <p:cNvPr id="7" name="encoder-to-mamba-arrow-line">
            <a:extLst>
              <a:ext uri="{FF2B5EF4-FFF2-40B4-BE49-F238E27FC236}">
                <a16:creationId xmlns:a16="http://schemas.microsoft.com/office/drawing/2014/main" id="{71D489E7-83B6-42D9-B399-6951A5551D79}"/>
              </a:ext>
            </a:extLst>
          </p:cNvPr>
          <p:cNvSpPr>
            <a:spLocks noGrp="1"/>
          </p:cNvSpPr>
          <p:nvPr/>
        </p:nvSpPr>
        <p:spPr>
          <a:xfrm>
            <a:off x="9067800" y="1143000"/>
            <a:ext cx="714375" cy="0"/>
          </a:xfrm>
          <a:prstGeom prst="line">
            <a:avLst/>
          </a:prstGeom>
          <a:noFill/>
          <a:ln w="9525">
            <a:solidFill>
              <a:srgbClr val="565C63"/>
            </a:solidFill>
            <a:prstDash val="solid"/>
          </a:ln>
        </p:spPr>
      </p:sp>
      <p:sp>
        <p:nvSpPr>
          <p:cNvPr id="8" name="encoder-to-mamba-arrow-head">
            <a:extLst>
              <a:ext uri="{FF2B5EF4-FFF2-40B4-BE49-F238E27FC236}">
                <a16:creationId xmlns:a16="http://schemas.microsoft.com/office/drawing/2014/main" id="{2780B403-4113-48B7-963C-82142B764575}"/>
              </a:ext>
            </a:extLst>
          </p:cNvPr>
          <p:cNvSpPr>
            <a:spLocks noGrp="1"/>
          </p:cNvSpPr>
          <p:nvPr/>
        </p:nvSpPr>
        <p:spPr>
          <a:xfrm rot="5400000">
            <a:off x="9705975" y="1104900"/>
            <a:ext cx="76200" cy="76200"/>
          </a:xfrm>
          <a:prstGeom prst="triangle">
            <a:avLst/>
          </a:prstGeom>
          <a:solidFill>
            <a:srgbClr val="565C63"/>
          </a:solidFill>
          <a:ln w="0">
            <a:solidFill>
              <a:srgbClr val="565C63"/>
            </a:solidFill>
            <a:prstDash val="solid"/>
          </a:ln>
        </p:spPr>
      </p:sp>
      <p:sp>
        <p:nvSpPr>
          <p:cNvPr id="9" name="ir-input">
            <a:extLst>
              <a:ext uri="{FF2B5EF4-FFF2-40B4-BE49-F238E27FC236}">
                <a16:creationId xmlns:a16="http://schemas.microsoft.com/office/drawing/2014/main" id="{5E0B37CF-98B8-4009-979E-5374DA906D99}"/>
              </a:ext>
            </a:extLst>
          </p:cNvPr>
          <p:cNvSpPr>
            <a:spLocks noGrp="1"/>
          </p:cNvSpPr>
          <p:nvPr/>
        </p:nvSpPr>
        <p:spPr>
          <a:xfrm>
            <a:off x="114300" y="323850"/>
            <a:ext cx="10477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IR 输入</a:t>
            </a:r>
          </a:p>
        </p:txBody>
      </p:sp>
      <p:sp>
        <p:nvSpPr>
          <p:cNvPr id="10" name="vis-input">
            <a:extLst>
              <a:ext uri="{FF2B5EF4-FFF2-40B4-BE49-F238E27FC236}">
                <a16:creationId xmlns:a16="http://schemas.microsoft.com/office/drawing/2014/main" id="{82B197E6-9795-41EC-BCD1-FD011A7E25D7}"/>
              </a:ext>
            </a:extLst>
          </p:cNvPr>
          <p:cNvSpPr>
            <a:spLocks noGrp="1"/>
          </p:cNvSpPr>
          <p:nvPr/>
        </p:nvSpPr>
        <p:spPr>
          <a:xfrm>
            <a:off x="66675" y="1571625"/>
            <a:ext cx="1143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VIS 输入</a:t>
            </a:r>
          </a:p>
        </p:txBody>
      </p:sp>
      <p:sp>
        <p:nvSpPr>
          <p:cNvPr id="11" name="restormer">
            <a:extLst>
              <a:ext uri="{FF2B5EF4-FFF2-40B4-BE49-F238E27FC236}">
                <a16:creationId xmlns:a16="http://schemas.microsoft.com/office/drawing/2014/main" id="{53A31AAC-B5DA-4B5F-9D6C-CC529414B693}"/>
              </a:ext>
            </a:extLst>
          </p:cNvPr>
          <p:cNvSpPr>
            <a:spLocks noGrp="1"/>
          </p:cNvSpPr>
          <p:nvPr/>
        </p:nvSpPr>
        <p:spPr>
          <a:xfrm>
            <a:off x="1924050" y="895350"/>
            <a:ext cx="22193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Restormer 浅层特征提取</a:t>
            </a:r>
          </a:p>
        </p:txBody>
      </p:sp>
      <p:sp>
        <p:nvSpPr>
          <p:cNvPr id="12" name="low-frequency-mamba">
            <a:extLst>
              <a:ext uri="{FF2B5EF4-FFF2-40B4-BE49-F238E27FC236}">
                <a16:creationId xmlns:a16="http://schemas.microsoft.com/office/drawing/2014/main" id="{4A9914DF-36E3-42F1-9D07-C7A203C3F8B3}"/>
              </a:ext>
            </a:extLst>
          </p:cNvPr>
          <p:cNvSpPr>
            <a:spLocks noGrp="1"/>
          </p:cNvSpPr>
          <p:nvPr/>
        </p:nvSpPr>
        <p:spPr>
          <a:xfrm>
            <a:off x="4848225" y="419100"/>
            <a:ext cx="18002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低频 Mamba 提取</a:t>
            </a:r>
          </a:p>
        </p:txBody>
      </p:sp>
      <p:sp>
        <p:nvSpPr>
          <p:cNvPr id="13" name="high-frequency-akconv-cga">
            <a:extLst>
              <a:ext uri="{FF2B5EF4-FFF2-40B4-BE49-F238E27FC236}">
                <a16:creationId xmlns:a16="http://schemas.microsoft.com/office/drawing/2014/main" id="{2F8CBC6D-DFAE-4BCF-8C49-85E4B7423813}"/>
              </a:ext>
            </a:extLst>
          </p:cNvPr>
          <p:cNvSpPr>
            <a:spLocks noGrp="1"/>
          </p:cNvSpPr>
          <p:nvPr/>
        </p:nvSpPr>
        <p:spPr>
          <a:xfrm>
            <a:off x="4619625" y="1381125"/>
            <a:ext cx="22669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高频 AKConv + CGA 提取</a:t>
            </a:r>
          </a:p>
        </p:txBody>
      </p:sp>
      <p:sp>
        <p:nvSpPr>
          <p:cNvPr id="14" name="frequency-feature-merge">
            <a:extLst>
              <a:ext uri="{FF2B5EF4-FFF2-40B4-BE49-F238E27FC236}">
                <a16:creationId xmlns:a16="http://schemas.microsoft.com/office/drawing/2014/main" id="{6CAB3239-D1FD-47AE-8D5D-9F995D735FFA}"/>
              </a:ext>
            </a:extLst>
          </p:cNvPr>
          <p:cNvSpPr>
            <a:spLocks noGrp="1"/>
          </p:cNvSpPr>
          <p:nvPr/>
        </p:nvSpPr>
        <p:spPr>
          <a:xfrm>
            <a:off x="7362825" y="895350"/>
            <a:ext cx="16954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低/高频特征合并</a:t>
            </a:r>
          </a:p>
        </p:txBody>
      </p:sp>
      <p:sp>
        <p:nvSpPr>
          <p:cNvPr id="15" name="shared-mamba-cross-fusion">
            <a:extLst>
              <a:ext uri="{FF2B5EF4-FFF2-40B4-BE49-F238E27FC236}">
                <a16:creationId xmlns:a16="http://schemas.microsoft.com/office/drawing/2014/main" id="{377DE232-04FA-4BE2-A568-1E70FC038B0A}"/>
              </a:ext>
            </a:extLst>
          </p:cNvPr>
          <p:cNvSpPr>
            <a:spLocks noGrp="1"/>
          </p:cNvSpPr>
          <p:nvPr/>
        </p:nvSpPr>
        <p:spPr>
          <a:xfrm>
            <a:off x="10134600" y="409575"/>
            <a:ext cx="17430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模态共享</a:t>
            </a:r>
            <a:r>
              <a:rPr sz="1200" dirty="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 Mamba</a:t>
            </a:r>
          </a:p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交叉融合分支</a:t>
            </a:r>
            <a:endParaRPr sz="1200" dirty="0">
              <a:solidFill>
                <a:srgbClr val="252A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modality-specific-feature">
            <a:extLst>
              <a:ext uri="{FF2B5EF4-FFF2-40B4-BE49-F238E27FC236}">
                <a16:creationId xmlns:a16="http://schemas.microsoft.com/office/drawing/2014/main" id="{6FC95A5D-4B18-4DE8-91B4-B54AB26F36E7}"/>
              </a:ext>
            </a:extLst>
          </p:cNvPr>
          <p:cNvSpPr>
            <a:spLocks noGrp="1"/>
          </p:cNvSpPr>
          <p:nvPr/>
        </p:nvSpPr>
        <p:spPr>
          <a:xfrm>
            <a:off x="10258425" y="1285875"/>
            <a:ext cx="1495425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模态个性特征</a:t>
            </a:r>
          </a:p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提取分支</a:t>
            </a:r>
          </a:p>
        </p:txBody>
      </p:sp>
      <p:sp>
        <p:nvSpPr>
          <p:cNvPr id="17" name="fusion-feature-merge">
            <a:extLst>
              <a:ext uri="{FF2B5EF4-FFF2-40B4-BE49-F238E27FC236}">
                <a16:creationId xmlns:a16="http://schemas.microsoft.com/office/drawing/2014/main" id="{2D6E9C41-2347-4D55-9E39-F7D9C378E679}"/>
              </a:ext>
            </a:extLst>
          </p:cNvPr>
          <p:cNvSpPr>
            <a:spLocks noGrp="1"/>
          </p:cNvSpPr>
          <p:nvPr/>
        </p:nvSpPr>
        <p:spPr>
          <a:xfrm>
            <a:off x="12237243" y="902493"/>
            <a:ext cx="15144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融合特征合并</a:t>
            </a:r>
          </a:p>
        </p:txBody>
      </p:sp>
      <p:sp>
        <p:nvSpPr>
          <p:cNvPr id="18" name="htb-decoder">
            <a:extLst>
              <a:ext uri="{FF2B5EF4-FFF2-40B4-BE49-F238E27FC236}">
                <a16:creationId xmlns:a16="http://schemas.microsoft.com/office/drawing/2014/main" id="{A056A329-D683-4E30-BDBC-9D47EF2655AB}"/>
              </a:ext>
            </a:extLst>
          </p:cNvPr>
          <p:cNvSpPr>
            <a:spLocks noGrp="1"/>
          </p:cNvSpPr>
          <p:nvPr/>
        </p:nvSpPr>
        <p:spPr>
          <a:xfrm>
            <a:off x="14461332" y="922734"/>
            <a:ext cx="13430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HTB </a:t>
            </a:r>
            <a:r>
              <a:rPr sz="1200" dirty="0" err="1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解码器</a:t>
            </a:r>
            <a:endParaRPr sz="1200" dirty="0">
              <a:solidFill>
                <a:srgbClr val="252A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used-image-output">
            <a:extLst>
              <a:ext uri="{FF2B5EF4-FFF2-40B4-BE49-F238E27FC236}">
                <a16:creationId xmlns:a16="http://schemas.microsoft.com/office/drawing/2014/main" id="{7D62E2A2-E1F2-4CFC-AE49-9FE3B20B4BAA}"/>
              </a:ext>
            </a:extLst>
          </p:cNvPr>
          <p:cNvSpPr>
            <a:spLocks noGrp="1"/>
          </p:cNvSpPr>
          <p:nvPr/>
        </p:nvSpPr>
        <p:spPr>
          <a:xfrm>
            <a:off x="16125825" y="9334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融合图像输出</a:t>
            </a:r>
          </a:p>
        </p:txBody>
      </p:sp>
      <p:cxnSp>
        <p:nvCxnSpPr>
          <p:cNvPr id="49" name="restormer-to-low-frequency"/>
          <p:cNvCxnSpPr>
            <a:stCxn id="11" idx="3"/>
            <a:endCxn id="12" idx="1"/>
          </p:cNvCxnSpPr>
          <p:nvPr/>
        </p:nvCxnSpPr>
        <p:spPr>
          <a:xfrm rot="5400000">
            <a:off x="4255294" y="550069"/>
            <a:ext cx="481013" cy="704850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0" name="restormer-to-high-frequency"/>
          <p:cNvCxnSpPr>
            <a:stCxn id="11" idx="3"/>
            <a:endCxn id="13" idx="1"/>
          </p:cNvCxnSpPr>
          <p:nvPr/>
        </p:nvCxnSpPr>
        <p:spPr>
          <a:xfrm rot="16200000" flipH="1">
            <a:off x="4140994" y="1145381"/>
            <a:ext cx="481013" cy="476250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1" name="low-frequency-to-merge"/>
          <p:cNvCxnSpPr>
            <a:stCxn id="12" idx="3"/>
            <a:endCxn id="14" idx="1"/>
          </p:cNvCxnSpPr>
          <p:nvPr/>
        </p:nvCxnSpPr>
        <p:spPr>
          <a:xfrm rot="16200000" flipH="1">
            <a:off x="6765131" y="545306"/>
            <a:ext cx="481013" cy="714375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2" name="high-frequency-to-merge"/>
          <p:cNvCxnSpPr>
            <a:stCxn id="13" idx="3"/>
            <a:endCxn id="14" idx="1"/>
          </p:cNvCxnSpPr>
          <p:nvPr/>
        </p:nvCxnSpPr>
        <p:spPr>
          <a:xfrm rot="5400000">
            <a:off x="6884194" y="1145381"/>
            <a:ext cx="481013" cy="476250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3" name="shared-mamba-to-fusion"/>
          <p:cNvCxnSpPr>
            <a:stCxn id="15" idx="3"/>
            <a:endCxn id="17" idx="1"/>
          </p:cNvCxnSpPr>
          <p:nvPr/>
        </p:nvCxnSpPr>
        <p:spPr>
          <a:xfrm>
            <a:off x="11877675" y="695325"/>
            <a:ext cx="359568" cy="454818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4" name="specific-feature-to-fusion"/>
          <p:cNvCxnSpPr>
            <a:stCxn id="16" idx="3"/>
            <a:endCxn id="17" idx="1"/>
          </p:cNvCxnSpPr>
          <p:nvPr/>
        </p:nvCxnSpPr>
        <p:spPr>
          <a:xfrm flipV="1">
            <a:off x="11753850" y="1150143"/>
            <a:ext cx="483393" cy="464345"/>
          </a:xfrm>
          <a:prstGeom prst="curvedConnector3">
            <a:avLst>
              <a:gd name="adj1" fmla="val 50000"/>
            </a:avLst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5" name="fusion-to-htb"/>
          <p:cNvCxnSpPr>
            <a:stCxn id="17" idx="3"/>
            <a:endCxn id="18" idx="1"/>
          </p:cNvCxnSpPr>
          <p:nvPr/>
        </p:nvCxnSpPr>
        <p:spPr>
          <a:xfrm>
            <a:off x="13751718" y="1150143"/>
            <a:ext cx="709614" cy="20241"/>
          </a:xfrm>
          <a:prstGeom prst="straightConnector1">
            <a:avLst/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cxnSp>
        <p:nvCxnSpPr>
          <p:cNvPr id="56" name="htb-to-output"/>
          <p:cNvCxnSpPr>
            <a:stCxn id="18" idx="3"/>
            <a:endCxn id="19" idx="1"/>
          </p:cNvCxnSpPr>
          <p:nvPr/>
        </p:nvCxnSpPr>
        <p:spPr>
          <a:xfrm>
            <a:off x="15804357" y="1170384"/>
            <a:ext cx="321468" cy="10716"/>
          </a:xfrm>
          <a:prstGeom prst="straightConnector1">
            <a:avLst/>
          </a:prstGeom>
          <a:ln w="9525">
            <a:solidFill>
              <a:srgbClr val="565C63"/>
            </a:solidFill>
            <a:prstDash val="solid"/>
            <a:headEnd type="arrow" w="sm" len="sm"/>
          </a:ln>
        </p:spPr>
      </p:cxnSp>
      <p:sp>
        <p:nvSpPr>
          <p:cNvPr id="28" name="shared-encoder-title">
            <a:extLst>
              <a:ext uri="{FF2B5EF4-FFF2-40B4-BE49-F238E27FC236}">
                <a16:creationId xmlns:a16="http://schemas.microsoft.com/office/drawing/2014/main" id="{C8F6EE29-46E8-410E-9484-8FBD8B792A2D}"/>
              </a:ext>
            </a:extLst>
          </p:cNvPr>
          <p:cNvSpPr>
            <a:spLocks noGrp="1"/>
          </p:cNvSpPr>
          <p:nvPr/>
        </p:nvSpPr>
        <p:spPr>
          <a:xfrm>
            <a:off x="1685925" y="952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4167"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共享编码器</a:t>
            </a:r>
          </a:p>
        </p:txBody>
      </p:sp>
      <p:sp>
        <p:nvSpPr>
          <p:cNvPr id="29" name="shared-mamba-fusion-title">
            <a:extLst>
              <a:ext uri="{FF2B5EF4-FFF2-40B4-BE49-F238E27FC236}">
                <a16:creationId xmlns:a16="http://schemas.microsoft.com/office/drawing/2014/main" id="{202B8B33-6E25-41D7-8AC2-DCCE518E5F03}"/>
              </a:ext>
            </a:extLst>
          </p:cNvPr>
          <p:cNvSpPr>
            <a:spLocks noGrp="1"/>
          </p:cNvSpPr>
          <p:nvPr/>
        </p:nvSpPr>
        <p:spPr>
          <a:xfrm>
            <a:off x="9791700" y="57150"/>
            <a:ext cx="417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4167" lnSpcReduction="10000"/>
          </a:bodyPr>
          <a:lstStyle/>
          <a:p>
            <a:pPr algn="ctr">
              <a:defRPr sz="120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共享交叉</a:t>
            </a:r>
            <a:r>
              <a:rPr sz="1200" dirty="0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 Mamba </a:t>
            </a:r>
            <a:r>
              <a:rPr sz="1200" dirty="0" err="1">
                <a:solidFill>
                  <a:srgbClr val="252A30"/>
                </a:solidFill>
                <a:latin typeface="Microsoft YaHei"/>
                <a:ea typeface="Microsoft YaHei"/>
                <a:cs typeface="Microsoft YaHei"/>
              </a:rPr>
              <a:t>融合</a:t>
            </a:r>
            <a:endParaRPr sz="1200" dirty="0">
              <a:solidFill>
                <a:srgbClr val="252A3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434757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DocSecurity>0</DocSecurity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哲 李</cp:lastModifiedBy>
  <cp:revision>1</cp:revision>
  <dcterms:created xsi:type="dcterms:W3CDTF">2026-07-14T05:54:24Z</dcterms:created>
  <dcterms:modified xsi:type="dcterms:W3CDTF">2026-07-14T06:01:29Z</dcterms:modified>
</cp:coreProperties>
</file>